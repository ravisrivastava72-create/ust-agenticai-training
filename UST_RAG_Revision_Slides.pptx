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UST Revision – RAG to </a:t>
            </a:r>
            <a:r>
              <a:rPr dirty="0" err="1"/>
              <a:t>Stateful</a:t>
            </a:r>
            <a:r>
              <a:rPr dirty="0"/>
              <a:t> </a:t>
            </a:r>
            <a:r>
              <a:rPr dirty="0" err="1"/>
              <a:t>LangGraph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 smtClean="0"/>
              <a:t>Topics</a:t>
            </a:r>
            <a:r>
              <a:rPr dirty="0"/>
              <a:t>:</a:t>
            </a:r>
          </a:p>
          <a:p>
            <a:r>
              <a:rPr dirty="0"/>
              <a:t>• Traditional RAG</a:t>
            </a:r>
          </a:p>
          <a:p>
            <a:r>
              <a:rPr dirty="0"/>
              <a:t>• </a:t>
            </a:r>
            <a:r>
              <a:rPr dirty="0" err="1"/>
              <a:t>LangChain</a:t>
            </a:r>
            <a:r>
              <a:rPr dirty="0"/>
              <a:t> Pipelines</a:t>
            </a:r>
          </a:p>
          <a:p>
            <a:r>
              <a:rPr dirty="0"/>
              <a:t>• </a:t>
            </a:r>
            <a:r>
              <a:rPr dirty="0" err="1"/>
              <a:t>Stateful</a:t>
            </a:r>
            <a:r>
              <a:rPr dirty="0"/>
              <a:t> </a:t>
            </a:r>
            <a:r>
              <a:rPr dirty="0" err="1"/>
              <a:t>LangGraph</a:t>
            </a:r>
            <a:endParaRPr dirty="0"/>
          </a:p>
          <a:p>
            <a:r>
              <a:rPr dirty="0"/>
              <a:t>• </a:t>
            </a:r>
            <a:r>
              <a:rPr dirty="0" err="1"/>
              <a:t>AgentState</a:t>
            </a:r>
            <a:endParaRPr dirty="0"/>
          </a:p>
          <a:p>
            <a:r>
              <a:rPr dirty="0"/>
              <a:t>• Planner / Executor / Verifier</a:t>
            </a:r>
          </a:p>
          <a:p>
            <a:r>
              <a:rPr dirty="0"/>
              <a:t>• STM / LTM</a:t>
            </a:r>
          </a:p>
          <a:p>
            <a:r>
              <a:rPr dirty="0"/>
              <a:t>• </a:t>
            </a:r>
            <a:r>
              <a:rPr dirty="0" err="1"/>
              <a:t>Checkpointers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4-Day Agentic/Multi-Agent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672850"/>
            <a:ext cx="8520600" cy="4126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 Objective</a:t>
            </a:r>
          </a:p>
          <a:p>
            <a:r>
              <a:t>To create RAG pipelines (relate with the Parishiksha Assistant project)</a:t>
            </a:r>
          </a:p>
          <a:p>
            <a:r>
              <a:t>Softwares : langchain, langgraph, autogen, crewAI, flowise, n8n.</a:t>
            </a:r>
          </a:p>
          <a:p>
            <a:endParaRPr/>
          </a:p>
          <a:p>
            <a:r>
              <a:t>Day 1 : Move from linear LangChain/RAG chains to stateful graph thinking. Refactor last week's RAG pipeline as a graph. No new abstractions before students see the connection.</a:t>
            </a:r>
          </a:p>
          <a:p>
            <a:r>
              <a:t>Day 2: Transition intent: Make the graph remember and act through tools. Same Q&amp;A graph from Tuesday, now with short-term memory via checkpointer + tool routing via ToolNode.</a:t>
            </a:r>
          </a:p>
          <a:p>
            <a:r>
              <a:t>Day 3: Transition intent: Move from one agent to coordinated specialist roles. Supervisor decides whether to research more, write, or stop. Workers stay simple and inspectable.</a:t>
            </a:r>
          </a:p>
          <a:p>
            <a:r>
              <a:t>Day 4: Transition intent: Convert toy graphs into demo-worthy workflows with recovery. Add retries, human-in-the-loop, streaming, and lightweight observability to Thursday's multi-agent system. (Flowise, n8n)</a:t>
            </a:r>
          </a:p>
          <a:p>
            <a:endParaRPr/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488" y="587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Colab 1 Skeleton — RAG Agent in Flowise (helpful for your ASSISTANT project)</a:t>
            </a:r>
          </a:p>
          <a:p>
            <a:endParaRPr/>
          </a:p>
        </p:txBody>
      </p:sp>
      <p:pic>
        <p:nvPicPr>
          <p:cNvPr id="3" name="Picture 2" descr="temp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01" y="1031875"/>
            <a:ext cx="6313475" cy="4047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Intent : Move from linear LangChain/RAG chains to stateful graph thinking. Refactor last week's RAG pipeline as a graph. No new abstractions before students see the connection.</a:t>
            </a:r>
          </a:p>
          <a:p>
            <a:endParaRPr/>
          </a:p>
          <a:p>
            <a:r>
              <a:t>RAG as a graph: state, nodes, edges, conditional routing</a:t>
            </a:r>
          </a:p>
          <a:p>
            <a:endParaRPr/>
          </a:p>
          <a:p>
            <a:r>
              <a:t>Different types of RAGs.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Today we build the simplest version of this pattern as a LangGraph StateGraph. By Friday you will be running a multi-agent version of it (flowise).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Workflows vs Agents</a:t>
            </a:r>
          </a:p>
        </p:txBody>
      </p:sp>
      <p:pic>
        <p:nvPicPr>
          <p:cNvPr id="3" name="Picture 2" descr="temp_im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0750"/>
            <a:ext cx="9616751" cy="2410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175" y="0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LangChain Pipeline Diagram</a:t>
            </a:r>
          </a:p>
        </p:txBody>
      </p:sp>
      <p:pic>
        <p:nvPicPr>
          <p:cNvPr id="3" name="Picture 2" descr="temp_img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875" y="679450"/>
            <a:ext cx="630555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Lab breakdown (git commit before lunch)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AgentState + Imports + groq integration</a:t>
            </a:r>
          </a:p>
          <a:p>
            <a:r>
              <a:t>Planner agent (with retry, exception tested individually)</a:t>
            </a:r>
          </a:p>
          <a:p>
            <a:r>
              <a:t>Executor (Planner + Executor tested)</a:t>
            </a:r>
          </a:p>
          <a:p>
            <a:r>
              <a:t>Verifier (tested with conditional edge )</a:t>
            </a:r>
          </a:p>
          <a:p>
            <a:r>
              <a:t>Langgraph Assemble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things that differ from the workshop skeleton shown earlier:</a:t>
            </a:r>
          </a:p>
          <a:p>
            <a:r>
              <a:t>The earlier code was a minimal illustration. This full version adds three important production elements — a json.loads() try/except on every LLM response (because GPT occasionally wraps JSON in markdown code fences), an iterations counter that force-approves after 3 cycles (prevents infinite loops), and the critique_ctx string that gives the Executor targeted feedback on retry rather than blindly repeating itself. Those three additions are what separates a demo from something that actually runs reliably end-to-end.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Build a Week 1-10 learner Q&amp;A graph from scratch. It must decide whether to retrieve notes or answer directly, then generate a response. Reuse only Anish's RAG pipeline as inspiration - rebuild it as a graph.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Short-term versus long-term memory in agents. Context-window management. Conversation summarisation.</a:t>
            </a:r>
          </a:p>
          <a:p>
            <a:endParaRPr/>
          </a:p>
          <a:p>
            <a:endParaRPr/>
          </a:p>
          <a:p>
            <a:r>
              <a:t>Persistent memory stores: vector memory, episodic memory. Hands-on: Chroma-backed long-term memory.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Checkpointers in Langgraph (short-term memory)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Checkpointer keeps memory within a thread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 in langgraph is long-term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 keeps memory across threads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Filtering (short-term memory)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Based on last n messages</a:t>
            </a:r>
          </a:p>
          <a:p>
            <a:r>
              <a:t>Based on token count.</a:t>
            </a:r>
          </a:p>
          <a:p>
            <a:r>
              <a:t>Summarize previous messages and pass in summary (context compression)</a:t>
            </a:r>
          </a:p>
          <a:p>
            <a:r>
              <a:t>Summary is stored as part of graph State.</a:t>
            </a:r>
          </a:p>
        </p:txBody>
      </p:sp>
      <p:pic>
        <p:nvPicPr>
          <p:cNvPr id="4" name="Picture 3" descr="temp_img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75" y="2472688"/>
            <a:ext cx="6322650" cy="2352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Long-term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31404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Updates in Hot path</a:t>
            </a:r>
          </a:p>
          <a:p>
            <a:r>
              <a:t>Updates in Background</a:t>
            </a:r>
          </a:p>
          <a:p>
            <a:endParaRPr/>
          </a:p>
          <a:p>
            <a:endParaRPr/>
          </a:p>
          <a:p>
            <a:r>
              <a:t>Pros and Cons?</a:t>
            </a:r>
          </a:p>
        </p:txBody>
      </p:sp>
      <p:pic>
        <p:nvPicPr>
          <p:cNvPr id="4" name="Picture 3" descr="temp_img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500" y="1170125"/>
            <a:ext cx="5387100" cy="25797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Pros and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4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Hot path :</a:t>
            </a:r>
          </a:p>
          <a:p>
            <a:r>
              <a:t>Pros :</a:t>
            </a:r>
          </a:p>
          <a:p>
            <a:r>
              <a:t>There is no separate bookkeeping</a:t>
            </a:r>
          </a:p>
          <a:p>
            <a:r>
              <a:t>Cons:</a:t>
            </a:r>
          </a:p>
          <a:p>
            <a:r>
              <a:t>Application logic becomes convoluted.</a:t>
            </a:r>
          </a:p>
          <a:p>
            <a:r>
              <a:t>Latency increases</a:t>
            </a:r>
          </a:p>
          <a:p>
            <a:r>
              <a:t>Background:</a:t>
            </a:r>
          </a:p>
          <a:p>
            <a:r>
              <a:t>Pros :</a:t>
            </a:r>
          </a:p>
          <a:p>
            <a:r>
              <a:t>No interference with application logic or latency</a:t>
            </a:r>
          </a:p>
          <a:p>
            <a:r>
              <a:t>Cons</a:t>
            </a:r>
          </a:p>
          <a:p>
            <a:r>
              <a:t>Surfacing to user is difficult</a:t>
            </a:r>
          </a:p>
          <a:p>
            <a:r>
              <a:t>Memory may not be updated when you start a new conversation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memory to below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Hackathon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scenario — hospital triage — was picked deliberately. It maps cleanly to every concept you built: conditional edges handle severity routing (P1 goes one path, P4 another), RAG pulls from a real knowledge base (medical protocols), STM handles a nurse reviewing the same patient twice in a shift, LTM handles a returning patient across shifts, and the supervisor's retry/recovery isn't just a tech demo — in this domain a graceful failure with a clear reason is literally safer than a wrong confident answer.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725</Words>
  <Application>Microsoft Office PowerPoint</Application>
  <PresentationFormat>On-screen Show (4:3)</PresentationFormat>
  <Paragraphs>74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UST Revision – RAG to Stateful LangGraph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UST Revision – RAG to Stateful LangGraph</dc:title>
  <dc:creator>Hp</dc:creator>
  <dc:description>generated using python-pptx</dc:description>
  <cp:lastModifiedBy>Hp</cp:lastModifiedBy>
  <cp:revision>2</cp:revision>
  <dcterms:created xsi:type="dcterms:W3CDTF">2013-01-27T09:14:16Z</dcterms:created>
  <dcterms:modified xsi:type="dcterms:W3CDTF">2026-05-25T07:23:57Z</dcterms:modified>
</cp:coreProperties>
</file>