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3474720"/>
            <a:ext cx="8942832" cy="16687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Linear RAG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Stateful LangGraph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· Agentic AI Foundations · UST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 Session 2  ·  Ravi  ·  KrishnayanAI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 → What embedding quality means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019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21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· Self-RAG · HyDE · Clarification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43784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352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8895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LangGraph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5526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stateful orchestration emerged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77056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6849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9227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88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concept — shared workflow memory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of autonomous reasoning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019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1856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 vs LTM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221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· MemorySaver · Vector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43784"/>
            <a:ext cx="4160520" cy="86868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352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28895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Exercises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25526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labs building on last class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· 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Last Class Taught Us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Embeddings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Recommendation → Embedding Quality Lesson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20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Class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"The Dark Knight": "Batman sequel.",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"Gravity": "Astronauts in space.",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"Inception": "Dream within dream."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SentenceTransformer('all-MiniLM-L6-v2')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model.encode(descriptions)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cosine_similarity(...)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POOR similarity scores!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60520" cy="4206240"/>
          </a:xfrm>
          <a:prstGeom prst="rect">
            <a:avLst/>
          </a:prstGeom>
          <a:solidFill>
            <a:srgbClr val="E8F4FD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Why Similarity Was Poor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= mathematics of meaning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719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descriptions → weak semantic vectors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1579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'Batman sequel' has almost NO semantic richness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5968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descriptions create dense semantic neighbourhoods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4747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Better description: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9136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billionaire vigilante fights a psychopathic criminal in a morally complex urban thriller involving justice, chaos, and sacrifice'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4754880"/>
            <a:ext cx="8778240" cy="320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"Cosine similarity is NOT magic. It reflects the semantic richness of what you embedded."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KNOWLEDGE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RAG Architectures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RAG Patterns — Know the Difference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1605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804672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→ Retrieve docs → Generate answer.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Linear. No evaluation. No loops. Good baseline.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804672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21615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evaluates: 'Was retrieved context sufficient?' and 'Do I even need retrieval?' Self-reflective. Reduces hallucination.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880360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880360"/>
            <a:ext cx="416052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907792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(Hypothetical Doc Embeddings)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31927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first generates a hypothetical ideal answer → THAT is embedded for search. Improves retrieval precision dramatically.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880360"/>
            <a:ext cx="4160520" cy="38404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907792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1927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query? Agent asks clarifying question before retrieval. 'Azure pricing — for Compute, Storage, or AI Services?'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— Why It Works (Key Concept)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572768" cy="2926080"/>
          </a:xfrm>
          <a:prstGeom prst="round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" y="1627632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LangGraph?"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09928" y="201168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572768" cy="2926080"/>
          </a:xfrm>
          <a:prstGeom prst="roundRect">
            <a:avLst/>
          </a:prstGeom>
          <a:solidFill>
            <a:srgbClr val="EF53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39112" y="1627632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query directly → search → often imprecise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38728" y="201168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1572768" cy="2926080"/>
          </a:xfrm>
          <a:prstGeom prst="roundRect">
            <a:avLst/>
          </a:prstGeom>
          <a:solidFill>
            <a:srgbClr val="FFB3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67912" y="1627632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a hypothetical answer paragraph first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67528" y="201168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914400"/>
            <a:ext cx="1572768" cy="2926080"/>
          </a:xfrm>
          <a:prstGeom prst="roundRect">
            <a:avLst/>
          </a:prstGeom>
          <a:solidFill>
            <a:srgbClr val="6A1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96712" y="1627632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richer hypothetical text → better semantic match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96328" y="201168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60920" y="914400"/>
            <a:ext cx="1572768" cy="2926080"/>
          </a:xfrm>
          <a:prstGeom prst="roundRect">
            <a:avLst/>
          </a:prstGeom>
          <a:solidFill>
            <a:srgbClr val="00C85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Answer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34072" y="1627632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is now semantically closer to real documents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You are not searching with a question — you are searching with the SHAPE of the answer.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why HyDE works better than naive embedding of the raw query.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CORE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vs LangGraph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Why the Shift Happened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= Pipeline  vs  LangGraph = Cognition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251960"/>
          </a:xfrm>
          <a:prstGeom prst="rect">
            <a:avLst/>
          </a:prstGeom>
          <a:solidFill>
            <a:srgbClr val="E8F4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LangChain — Sequential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Prompt → LLM → Tool → Output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execution. One path.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— no memory between steps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one-shot Q&amp;A, PDF summarisers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Restaurant order pipeline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Order → Kitchen → Billing → Delivery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handle: retry, routing, loops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425196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114800" cy="43891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LangGraph — Stateful 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moves across a GRAPH of nodes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routing — dynamic decisions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persists across execution steps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reasoning agents, multi-step tasks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Hospital emergency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critical → ICU | If stable → OPD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tests missing → Retry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handle: retries, loops, multi-agent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LangGraph Emerged — The Gap LangChain Left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8778240" cy="86868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What if retrieval is poor?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Chain breaks. No fallback.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Verifier detects → retry node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828800"/>
            <a:ext cx="8778240" cy="86868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What if answer is incomplete?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Returns thin answer silently.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Verifier routes back to planner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834640"/>
            <a:ext cx="8778240" cy="86868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803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What if context needs web search?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Cannot decide dynamically.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Tool routing via conditional edge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840480"/>
            <a:ext cx="8778240" cy="86868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What if user continues conversation?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No memory. Starts fresh.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MemorySaver thread keeps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"LangChain connects components.  LangGraph orchestrates cognition."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·  THE KEY CLASS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AgentState — Shared Workflow Memory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AgentState — The Shared Data Container (NOT an agent!)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3977640"/>
          </a:xfrm>
          <a:prstGeom prst="rect">
            <a:avLst/>
          </a:prstGeom>
          <a:solidFill>
            <a:srgbClr val="111D2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List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         str           # original user question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retrieved_docs: List[str]     # docs fetched by retriever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plan:           str           # strategy from planner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        str           # generated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retry_count:    int           # how many times we've retried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needs_retry:    bool          # verifier's verdict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HOW STATE FLOWS 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Query     → AgentState created  (query set)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Planner Node   → reads query,   writes plan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Executor Node  → reads plan,    writes retrieved_docs + answer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Verifier Node  → reads answer,  writes needs_retry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Edge → routes based on needs_retry value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AgentState is the "patient file" that moves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across every hospital department (node) in the workflow.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 of AgentState as a Jira ticket — every team member reads it, updates it, and passes it 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→ Executor → Verifier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Loop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/ Executor / Verifier — Enterprise Analogy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651760" cy="41605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265176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 PLANNER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35331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execution strategy.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execute.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" y="2633472"/>
            <a:ext cx="2432304" cy="182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7249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30632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651760" cy="41605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1B6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777240"/>
            <a:ext cx="2651760" cy="475488"/>
          </a:xfrm>
          <a:prstGeom prst="rect">
            <a:avLst/>
          </a:prstGeom>
          <a:solidFill>
            <a:srgbClr val="1B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8046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EXECUTOR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35331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tools, retrieves docs,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APIs, vector DB.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64408" y="2633472"/>
            <a:ext cx="2432304" cy="18288"/>
          </a:xfrm>
          <a:prstGeom prst="rect">
            <a:avLst/>
          </a:prstGeom>
          <a:solidFill>
            <a:srgbClr val="1B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27249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30632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651760" cy="41605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777240"/>
            <a:ext cx="265176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8046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VERIFIER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135331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Checks: hallucination, completeness,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formatting.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2633472"/>
            <a:ext cx="2432304" cy="182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27249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Analogy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30632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Team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= Workflow Engine    ·    AgentState = Shared Ticket    ·    Conditional Edge = Decision Gate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Graph — Nodes + Conditional Edge (complete pattern)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3977640"/>
          </a:xfrm>
          <a:prstGeom prst="rect">
            <a:avLst/>
          </a:prstGeom>
          <a:solidFill>
            <a:srgbClr val="111D2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StateGraph(AgentState)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NODES 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planner_node(state):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 = llm.invoke(f"Create a retrieval plan for: {state['query']}")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"plan": plan.content}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executor_node(state):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retriever.get_relevant_documents(state["query"])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"\n".join(d.page_content for d in docs)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llm.invoke(f"Context: {context}\nQuestion: {state['query']}")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"retrieved_docs":[d.page_content for d in docs],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"answer": answer.content}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verifier_node(state):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= len(state["answer"]) &gt; 50 and state["retry_count"] &lt;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"needs_retry": not ok,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"retry_count": state["retry_count"] + (0 if ok else 1)}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"executor" if state["needs_retry"] else END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ASSEMBLE 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workflow.add_node("planner",  planner_node)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workflow.add_node("executor", executor_node)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workflow.add_node("verifier", verifier_node)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workflow.set_entry_point("planner")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workflow.add_edge("planner",  "executor")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workflow.add_edge("executor", "verifier")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workflow.add_conditional_edges("verifier", route, {"executor":"executor", END:END})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workflow.compile()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retry_count &lt; 3 prevents infinite loops — always add a circuit breaker!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 · 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 vs LTM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· MemorySaver · Vector Store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Memory (STM) vs Long-Term Memory (LTM)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251960"/>
          </a:xfrm>
          <a:prstGeom prst="rect">
            <a:avLst/>
          </a:prstGeom>
          <a:solidFill>
            <a:srgbClr val="E8F4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STM — Short-Term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Thread-level conversation context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MemorySaver / checkpointer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only within a session thread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when thread_id changes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'Continue from previous question'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Like: Human working memory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workflow.compile(checkpointer=memory)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425196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114800" cy="43891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LTM — Long-Term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across sessions and users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Vector DB (Chroma, Pinecone)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application restarts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relevant past context by similarity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'User prefers Azure over AWS examples'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Like: Human episodic/semantic memory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InMemoryStore or external vector store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STM with MemorySaver — Thread-Based Memory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3977640"/>
          </a:xfrm>
          <a:prstGeom prst="rect">
            <a:avLst/>
          </a:prstGeom>
          <a:solidFill>
            <a:srgbClr val="111D2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 graph WITH checkpointer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workflow.compile(checkpointer=memory)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THREAD CONFIG 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"user_ravi_session_1"}}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app.invoke(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{"query": "What is LangGraph?", "retry_count": 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2 — system REMEMBERS turn 1 via thread_id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app.invoke(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{"query": "How does it differ from LangChain?", "retry_count": 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Different user = different thread = isolated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config2 = {"configurable": {"thread_id": "user_priya_session_1"}}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IIT SLIDE KEY LINES 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"Checkpointer keeps memory WITHIN a thread"   → STM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"Store keeps memory ACROSS threads"           → LTM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thread_id is the key. Same thread_id = same conversation context persists.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Evolution — Where This Course Places You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600200" cy="2560320"/>
          </a:xfrm>
          <a:prstGeom prst="round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78308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23317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responses. No retrieval. No memory.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6596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40280" y="1097280"/>
            <a:ext cx="1600200" cy="2560320"/>
          </a:xfrm>
          <a:prstGeom prst="roundRect">
            <a:avLst/>
          </a:prstGeom>
          <a:solidFill>
            <a:srgbClr val="1B5E2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13432" y="178308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13432" y="23317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Retrieval-augmented. Grounded answers. Still linear.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0" y="1097280"/>
            <a:ext cx="1600200" cy="2560320"/>
          </a:xfrm>
          <a:prstGeom prst="roundRect">
            <a:avLst/>
          </a:prstGeom>
          <a:solidFill>
            <a:srgbClr val="5E35B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87952" y="178308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87952" y="23317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Self-RAG, HyDE, verify-retry loops. LangGraph.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1500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989320" y="1097280"/>
            <a:ext cx="1600200" cy="2560320"/>
          </a:xfrm>
          <a:prstGeom prst="roundRect">
            <a:avLst/>
          </a:prstGeom>
          <a:solidFill>
            <a:srgbClr val="BF36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62472" y="178308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62472" y="23317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+ specialist workers. Handoffs. TODAY→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8952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06640" y="1097280"/>
            <a:ext cx="1600200" cy="2560320"/>
          </a:xfrm>
          <a:prstGeom prst="round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234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9792" y="178308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79792" y="23317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Enterprise-grade. Human-in-loop. Production.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here: moving from RAG → Agentic RAG with LangGraph. Multi-agent is Day 3.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88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 ·  GOOGLE COLAB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Labs Building 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Class Movie Recommender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GOOGLE COLAB EXERCISE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— HyDE Movie Search (Upgrade Last Class)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last class movie dataset. Enrich descriptions to 2–3 rich sentences per movie.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function hyde_recommend(query): LLM generates a hypothetical movie description for the query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HYPOTHETICAL description (not the raw query) with SentenceTransformer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cosine similarity against all movie embeddings — show top 3 results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 direct query embedding vs HyDE embedding — print both similarity scores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queries like: 'A film about sacrifice and moral complexity in a corrupt city'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When does HyDE help most? When might it hurt?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 Understand why generating a hypothetical answer before search improves semantic retrieval precision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— HyDE Starter Code for Colab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3977640"/>
          </a:xfrm>
          <a:prstGeom prst="rect">
            <a:avLst/>
          </a:prstGeom>
          <a:solidFill>
            <a:srgbClr val="111D2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sentence-transformers openai pandas scikit-learn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numpy as np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sklearn.metrics.pairwise import cosine_similarity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OpenAI(api_key="YOUR_KEY")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= SentenceTransformer('all-MiniLM-L6-v2')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ENRICHED MOVIE DATA (key upgrade from last class) 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"title":["The Dark Knight","Inception","Gravity","The Shawshank Redemption"],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"description":[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 billionaire vigilante confronts a psychopathic criminal who tests Gotham's moral fabric.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"Themes of justice, chaos, and sacrifice in a gritty crime thriller.",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 thief who enters dreams to plant ideas faces impossible architecture and collapsing realities.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 mind-bending sci-fi exploring guilt, reality, and the nature of consciousness.",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"Astronauts stranded after a satellite collision must survive in the silence of deep space.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 survival thriller about human will against the indifferent vastness of the cosmos.",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"An innocent man in prison builds hope through decades of quiet resilience and friendship.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 moving story of freedom, perseverance, and the human spirit.",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pd.DataFrame(movies)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model.encode(df["description"].tolist())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hyde_recommend(query, top_k=3):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1: Generate hypothetical movie description via 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 = client.chat.completions.create(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model="gpt-3.5-turbo",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messages=[{"role":"user","content":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f"Write a 2-sentence movie description for: '{query}'"}]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).choices[0].message.content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hyp_emb   = model.encode([hyp])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query_emb = model.encode([query])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scores_hyde  = cosine_similarity(hyp_emb,  embeddings)[0]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scores_plain = cosine_similarity(query_emb, embeddings)[0]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print(f"Hypothetical: {hyp[:80]}...")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print("\nHyDE scores:  ", dict(zip(df.title, scores_hyde.round(3))))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print("Direct scores:", dict(zip(df.title, scores_plain.round(3))))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df.iloc[scores_hyde.argsort()[::-1][:top_k]]["title"].tolist()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hyde_recommend("A hero fighting moral corruption in a dark city")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Run both approaches and compare: HyDE should give better retrieval for abstract/vague queries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GOOGLE COLAB EXERCISE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 — Mini LangGraph RAG with Verifier (New!)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pip install langgraph langchain-openai sentence-transformers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AgentState with: query, retrieved_docs, answer, retry_count, needs_retry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retrieve_node: embed query → cosine similarity over movies → return top 2 titles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generate_node: construct prompt with retrieved docs → call LLM → store answer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verifier_node: if answer length &lt; 40 chars AND retry_count &lt; 2 → set needs_retry=True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routing_function: returns 'retrieve' or END based on needs_retry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graph: set_entry_point → add edges → add_conditional_edges → compile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app.invoke({'query': 'Recommend a space thriller', 'retry_count': 0})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final answer and how many retries happened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 Experience a real stateful reasoning loop — the graph retries if the answer is too thin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 — LangGraph Starter Code (complete skeleton)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3977640"/>
          </a:xfrm>
          <a:prstGeom prst="rect">
            <a:avLst/>
          </a:prstGeom>
          <a:solidFill>
            <a:srgbClr val="111D2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langgraph langchain-openai sentence-transformers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sklearn.metrics.pairwise import cosine_similarity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SETUP 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= ChatOpenAI(model="gpt-3.5-turbo", api_key="YOUR_KEY")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SentenceTransformer('all-MiniLM-L6-v2')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your enriched movies from Exercise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descriptions = ["&lt;paste descriptions here&gt;"]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titles       = ["&lt;paste titles here&gt;"]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corpus_emb   = model.encode(descriptions)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STATE 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str; retrieved_docs: List[str]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str; retry_count: int; needs_retry: bool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NODES 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q_emb  = model.encode([state["query"]])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cosine_similarity(q_emb, corpus_emb)[0]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top2   = np.argsort(scores)[::-1][:2]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"retrieved_docs": [titles[i] for i in top2]}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  = ", ".join(state["retrieved_docs"])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llm.invoke(f"Based on these movies: {ctx}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f"Answer: {state['query']}")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"answer": resp.content}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verifier_node(state):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bad = len(state["answer"]) &lt; 40 and state["retry_count"] &lt;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{**state, "needs_retry": bad,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"retry_count": state["retry_count"] + (1 if bad else 0)}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"retrieve" if state["needs_retry"] else END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ASSEMBLE 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StateGraph(AgentState)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g.add_node("retrieve", retrieve_node)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g.add_node("generate", generate_node)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g.add_node("verify",   verifier_node)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g.set_entry_point("retrieve")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g.add_edge("retrieve","generate")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g.add_edge("generate","verify")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g.add_conditional_edges("verify", route, {"retrieve":"retrieve", END:END})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g.compile()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RUN 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app.invoke({"query":"Recommend a space thriller","retry_count":0})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print("Answer:", result["answer"])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3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print("Retries:", result["retry_count"])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This is the same pattern as enterprise agentic RAG — just with movies instead of docs!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—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Embedding quality = description richness. Garbage in → garbage vectors.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HyDE: search with the SHAPE of the answer, not the question itself.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LangChain = pipeline  |  LangGraph = orchestrated cognition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AgentState is NOT an agent — it is the shared workflow memory object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Planner=PM · Executor=Dev Team · Verifier=QA · LangGraph=Jira workflow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STM=MemorySaver within thread  |  LTM=Vector DB across sessions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"Modern AI systems are no longer generating text. They reason, remember, and orchestrate."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Multi-Agent Systems · Supervisor + Workers · Handoffs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KrishnayanAI  ·  Ravi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– From RAG to LangGraph</dc:title>
  <dc:subject>PptxGenJS Presentation</dc:subject>
  <dc:creator>PptxGenJS</dc:creator>
  <cp:lastModifiedBy>PptxGenJS</cp:lastModifiedBy>
  <cp:revision>1</cp:revision>
  <dcterms:created xsi:type="dcterms:W3CDTF">2026-05-25T03:55:42Z</dcterms:created>
  <dcterms:modified xsi:type="dcterms:W3CDTF">2026-05-25T03:55:42Z</dcterms:modified>
</cp:coreProperties>
</file>